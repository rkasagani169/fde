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972800" cy="393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2500" b="1">
                <a:solidFill>
                  <a:srgbClr val="213445"/>
                </a:solidFill>
              </a:defRPr>
            </a:pPr>
            <a:r>
              <a:t>SLIDE 0  |  Combined opportunity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097280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5C6A75"/>
                </a:solidFill>
              </a:defRPr>
            </a:pPr>
            <a:r>
              <a:t>13 potential healthcare opportunities  •  RevOps / FinOps / Clinical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014984"/>
            <a:ext cx="3694176" cy="941832"/>
          </a:xfrm>
          <a:prstGeom prst="roundRect">
            <a:avLst/>
          </a:prstGeom>
          <a:solidFill>
            <a:srgbClr val="F0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24712"/>
            <a:ext cx="640080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3000" b="1">
                <a:solidFill>
                  <a:srgbClr val="25916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1" y="1289304"/>
            <a:ext cx="2724912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600" b="1">
                <a:solidFill>
                  <a:srgbClr val="259168"/>
                </a:solidFill>
              </a:defRPr>
            </a:pPr>
            <a:r>
              <a:t>Measurable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14984"/>
            <a:ext cx="3694176" cy="941832"/>
          </a:xfrm>
          <a:prstGeom prst="roundRect">
            <a:avLst/>
          </a:prstGeom>
          <a:solidFill>
            <a:srgbClr val="F0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124712"/>
            <a:ext cx="640080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3000" b="1">
                <a:solidFill>
                  <a:srgbClr val="B97B1F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289304"/>
            <a:ext cx="2724912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600" b="1">
                <a:solidFill>
                  <a:srgbClr val="B97B1F"/>
                </a:solidFill>
              </a:defRPr>
            </a:pPr>
            <a:r>
              <a:t>Partially measurable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014984"/>
            <a:ext cx="3694176" cy="941832"/>
          </a:xfrm>
          <a:prstGeom prst="roundRect">
            <a:avLst/>
          </a:prstGeom>
          <a:solidFill>
            <a:srgbClr val="F0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1624" y="1124712"/>
            <a:ext cx="640080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3000" b="1">
                <a:solidFill>
                  <a:srgbClr val="BF4C4C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6567" y="1289304"/>
            <a:ext cx="2724912" cy="32004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600" b="1">
                <a:solidFill>
                  <a:srgbClr val="BF4C4C"/>
                </a:solidFill>
              </a:defRPr>
            </a:pPr>
            <a:r>
              <a:t>Not measurable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075688"/>
            <a:ext cx="10881360" cy="21031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300" b="1">
                <a:solidFill>
                  <a:srgbClr val="213445"/>
                </a:solidFill>
              </a:defRPr>
            </a:pPr>
            <a:r>
              <a:t>PHASE 1  —  RAKHESH THOUGHTS  |  Original business ideas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" y="2377440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91156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Hospital performance &amp;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2391156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BF4C4C"/>
                </a:solidFill>
              </a:defRPr>
            </a:pPr>
            <a:r>
              <a:t>Not measurable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" y="2697480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711196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Preventive care &amp; regular checkups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2711196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B97B1F"/>
                </a:solidFill>
              </a:defRPr>
            </a:pPr>
            <a:r>
              <a:t>Partially measurable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" y="3017520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31236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Digital registration &amp;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3031236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BF4C4C"/>
                </a:solidFill>
              </a:defRPr>
            </a:pPr>
            <a:r>
              <a:t>Not measurable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" y="3337560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351276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Insurance billing &amp; reimbursement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4816" y="3351276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BF4C4C"/>
                </a:solidFill>
              </a:defRPr>
            </a:pPr>
            <a:r>
              <a:t>Not measurable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" y="3657600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671315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Access for elderly &amp; vulnerable patients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3671315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B97B1F"/>
                </a:solidFill>
              </a:defRPr>
            </a:pPr>
            <a:r>
              <a:t>Partially measurable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" y="3977639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991355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Personalized digital health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14816" y="3991355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B97B1F"/>
                </a:solidFill>
              </a:defRPr>
            </a:pPr>
            <a:r>
              <a:t>Partially measurable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" y="4297679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311395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Pharmacy &amp; medication coordination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4816" y="4311395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B97B1F"/>
                </a:solidFill>
              </a:defRPr>
            </a:pPr>
            <a:r>
              <a:t>Partially measurable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" y="4709159"/>
            <a:ext cx="10881360" cy="21945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300" b="1">
                <a:solidFill>
                  <a:srgbClr val="213445"/>
                </a:solidFill>
              </a:defRPr>
            </a:pPr>
            <a:r>
              <a:t>PHASE 2  —  DATA-DERIVED OPPORTUNITIES  |  Diabetes encounter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" y="5010911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024627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30-day readmission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4816" y="5024627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259168"/>
                </a:solidFill>
              </a:defRPr>
            </a:pPr>
            <a:r>
              <a:t>Measurable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" y="5330951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344667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Length of stay &amp; resource utilization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14816" y="5344667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259168"/>
                </a:solidFill>
              </a:defRPr>
            </a:pPr>
            <a:r>
              <a:t>Measurable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9496" y="5650991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664707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High-utilization patient segments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14816" y="5664707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259168"/>
                </a:solidFill>
              </a:defRPr>
            </a:pPr>
            <a:r>
              <a:t>Measurable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496" y="5971031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5984747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HbA1c testing &amp; diabetes management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4816" y="5984747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259168"/>
                </a:solidFill>
              </a:defRPr>
            </a:pPr>
            <a:r>
              <a:t>Measurable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9496" y="6291071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6304787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Discharge planning &amp; follow-up support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14816" y="6304787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B97B1F"/>
                </a:solidFill>
              </a:defRPr>
            </a:pPr>
            <a:r>
              <a:t>Partially measurable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9496" y="6611111"/>
            <a:ext cx="11064240" cy="269748"/>
          </a:xfrm>
          <a:prstGeom prst="roundRect">
            <a:avLst/>
          </a:prstGeom>
          <a:solidFill>
            <a:srgbClr val="F6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6624827"/>
            <a:ext cx="7955279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100" b="0">
                <a:solidFill>
                  <a:srgbClr val="213445"/>
                </a:solidFill>
              </a:defRPr>
            </a:pPr>
            <a:r>
              <a:t>Emergency vs. planned admissions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14816" y="6624827"/>
            <a:ext cx="2468880" cy="2286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1000" b="1">
                <a:solidFill>
                  <a:srgbClr val="259168"/>
                </a:solidFill>
              </a:defRPr>
            </a:pPr>
            <a:r>
              <a:t>Measurable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" y="6519672"/>
            <a:ext cx="109728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defRPr sz="900" b="0">
                <a:solidFill>
                  <a:srgbClr val="5C6A75"/>
                </a:solidFill>
              </a:defRPr>
            </a:pPr>
            <a:r>
              <a:t>Measurable = dataset metrics available, not proven financial value. Costs, reimbursements and intervention impact still need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21207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B3342"/>
                </a:solidFill>
              </a:defRPr>
            </a:pPr>
            <a:r>
              <a:t>1 |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69A6E"/>
                </a:solidFill>
              </a:defRPr>
            </a:pPr>
            <a:r>
              <a:t>DECISION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66F"/>
                </a:solidFill>
              </a:defRPr>
            </a:pPr>
            <a:r>
              <a:t>Validate a targeted discharge-support pilot; do not fund an AI build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3666F"/>
                </a:solidFill>
              </a:defRPr>
            </a:pPr>
            <a:r>
              <a:t>Testleaf FDE  |  Diabetes 130 US hospitals (1999–2008)  |  Discussion draft • 08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6766560" cy="320040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92808"/>
            <a:ext cx="73152" cy="2798064"/>
          </a:xfrm>
          <a:prstGeom prst="roundRect">
            <a:avLst/>
          </a:prstGeom>
          <a:solidFill>
            <a:srgbClr val="369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37944"/>
            <a:ext cx="624535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Where to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67712"/>
            <a:ext cx="6245352" cy="2560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B3342"/>
                </a:solidFill>
              </a:defRPr>
            </a:pPr>
            <a:r>
              <a:t>Diabetes encounters with 2+ recorded prior inpatient visits. This segment has an observed 21.40% 30-day readmission rate versus 11.16% overall.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91640"/>
            <a:ext cx="3931920" cy="320040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80" y="1892808"/>
            <a:ext cx="73152" cy="2798064"/>
          </a:xfrm>
          <a:prstGeom prst="roundRect">
            <a:avLst/>
          </a:prstGeom>
          <a:solidFill>
            <a:srgbClr val="B7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1837944"/>
            <a:ext cx="341071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Executive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267712"/>
            <a:ext cx="3410712" cy="2560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Approve analysis and a limited pilot design—not enterprise deployment. Require a verified financial and clinical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44768"/>
            <a:ext cx="1069848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3666F"/>
                </a:solidFill>
              </a:defRPr>
            </a:pPr>
            <a:r>
              <a:t>FACT: retrospective encounter-level association. HYPOTHESIS: targeted follow-up can prevent a portion of readmissions.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21207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B3342"/>
                </a:solidFill>
              </a:defRPr>
            </a:pPr>
            <a:r>
              <a:t>2 | Evidence: readmissions concentrate in a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69A6E"/>
                </a:solidFill>
              </a:defRPr>
            </a:pPr>
            <a:r>
              <a:t>BASELINE AND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66F"/>
                </a:solidFill>
              </a:defRPr>
            </a:pPr>
            <a:r>
              <a:t>Unit = qualifying encounter (not unique patient). Outcome = recorded readmission &lt;30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3666F"/>
                </a:solidFill>
              </a:defRPr>
            </a:pPr>
            <a:r>
              <a:t>Testleaf FDE  |  Diabetes 130 US hospitals (1999–2008)  |  Discussion draft • 08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3474720" cy="169164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65376"/>
            <a:ext cx="73152" cy="1289304"/>
          </a:xfrm>
          <a:prstGeom prst="roundRect">
            <a:avLst/>
          </a:prstGeom>
          <a:solidFill>
            <a:srgbClr val="369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295351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101,766 encounters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0280"/>
            <a:ext cx="2953512" cy="10515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3342"/>
                </a:solidFill>
              </a:defRPr>
            </a:pPr>
            <a:r>
              <a:t>71,518 distinct patient 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64208"/>
            <a:ext cx="3474720" cy="169164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8848" y="1865376"/>
            <a:ext cx="73152" cy="1289304"/>
          </a:xfrm>
          <a:prstGeom prst="roundRect">
            <a:avLst/>
          </a:prstGeom>
          <a:solidFill>
            <a:srgbClr val="369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810512"/>
            <a:ext cx="295351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11,357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240280"/>
            <a:ext cx="2953512" cy="10515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3342"/>
                </a:solidFill>
              </a:defRPr>
            </a:pPr>
            <a:r>
              <a:t>11.16% recorded &lt;30-day readmissions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64208"/>
            <a:ext cx="3474720" cy="169164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865376"/>
            <a:ext cx="73152" cy="1289304"/>
          </a:xfrm>
          <a:prstGeom prst="roundRect">
            <a:avLst/>
          </a:prstGeom>
          <a:solidFill>
            <a:srgbClr val="B7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1810512"/>
            <a:ext cx="295351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14,615 target encounters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240280"/>
            <a:ext cx="2953512" cy="10515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3342"/>
                </a:solidFill>
              </a:defRPr>
            </a:pPr>
            <a:r>
              <a:t>3,128 events; 21.40%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703320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69A6E"/>
                </a:solidFill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3703320"/>
            <a:ext cx="10149840" cy="4937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0 prior inpatient visits: 5,706 / 67,630 = 8.44%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270248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69A6E"/>
                </a:solidFill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270248"/>
            <a:ext cx="10149840" cy="4937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1 prior inpatient visit: 2,523 / 19,521 = 12.93%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37176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69A6E"/>
                </a:solidFill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837176"/>
            <a:ext cx="10149840" cy="4937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2+ prior inpatient visits: 3,128 / 14,615 = 21.40%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144768"/>
            <a:ext cx="1069848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3666F"/>
                </a:solidFill>
              </a:defRPr>
            </a:pPr>
            <a:r>
              <a:t>Segment represents 14.36% of encounters and 27.54% of observed &lt;30-day readmission events. No causal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21207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B3342"/>
                </a:solidFill>
              </a:defRPr>
            </a:pPr>
            <a:r>
              <a:t>3 | Business value &amp; break-even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69A6E"/>
                </a:solidFill>
              </a:defRPr>
            </a:pPr>
            <a:r>
              <a:t>ILLUSTRATIVE SCENARIO—NOT DATASET DOLLARS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66F"/>
                </a:solidFill>
              </a:defRPr>
            </a:pPr>
            <a:r>
              <a:t>Financial value must be captured by the hospital under its actual reimbursement and capacity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3666F"/>
                </a:solidFill>
              </a:defRPr>
            </a:pPr>
            <a:r>
              <a:t>Testleaf FDE  |  Diabetes 130 US hospitals (1999–2008)  |  Discussion draft • 08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86400" cy="356616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92808"/>
            <a:ext cx="73152" cy="3163824"/>
          </a:xfrm>
          <a:prstGeom prst="roundRect">
            <a:avLst/>
          </a:prstGeom>
          <a:solidFill>
            <a:srgbClr val="369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37944"/>
            <a:ext cx="496519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Illustrative pilot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67712"/>
            <a:ext cx="4965192" cy="2926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1,000 eligible discharges / year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21.40% baseline event rate → ~214 events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10% relative reduction → ~21 prevented events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$3,000 net value per prevented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691640"/>
            <a:ext cx="5212080" cy="356616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64808" y="1892808"/>
            <a:ext cx="73152" cy="3163824"/>
          </a:xfrm>
          <a:prstGeom prst="roundRect">
            <a:avLst/>
          </a:prstGeom>
          <a:solidFill>
            <a:srgbClr val="B7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37944"/>
            <a:ext cx="469087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67712"/>
            <a:ext cx="4690872" cy="2926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Gross annual value ≈ $64,200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Assumed annual program cost = $60,000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Net ≈ +$4,200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Break-even ≈ 20 prevented events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44768"/>
            <a:ext cx="1069848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3666F"/>
                </a:solidFill>
              </a:defRPr>
            </a:pPr>
            <a:r>
              <a:t>ASSUMPTIONS ONLY: $3,000/event, 10% effect, $60k program. Validate avoidability, marginal cost, penalties and lost reimbursement.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21207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B3342"/>
                </a:solidFill>
              </a:defRPr>
            </a:pPr>
            <a:r>
              <a:t>4 | Intervention: simplest rung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69A6E"/>
                </a:solidFill>
              </a:defRPr>
            </a:pPr>
            <a:r>
              <a:t>PROCESS → RULES → ANALYTICS → ML → GENAI →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66F"/>
                </a:solidFill>
              </a:defRPr>
            </a:pPr>
            <a:r>
              <a:t>Proposed pilot: rules-based targeting plus human-led discharge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3666F"/>
                </a:solidFill>
              </a:defRPr>
            </a:pPr>
            <a:r>
              <a:t>Testleaf FDE  |  Diabetes 130 US hospitals (1999–2008)  |  Discussion draft • 08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73352"/>
            <a:ext cx="5440680" cy="361188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20"/>
            <a:ext cx="73152" cy="3209544"/>
          </a:xfrm>
          <a:prstGeom prst="roundRect">
            <a:avLst/>
          </a:prstGeom>
          <a:solidFill>
            <a:srgbClr val="369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9656"/>
            <a:ext cx="491947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Operational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4919472" cy="2971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1. Flag 2+ prior inpatient visits at discharge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2. Nurse/care coordinator reviews eligibility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3. Confirm medications, follow-up and barriers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4. Contact patient after discharge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5. Track outcomes and workload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673352"/>
            <a:ext cx="5257800" cy="361188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9944" y="1874520"/>
            <a:ext cx="73152" cy="3209544"/>
          </a:xfrm>
          <a:prstGeom prst="roundRect">
            <a:avLst/>
          </a:prstGeom>
          <a:solidFill>
            <a:srgbClr val="B7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1819656"/>
            <a:ext cx="473659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Why not AI yet?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2249424"/>
            <a:ext cx="4736592" cy="2971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A transparent rule already identifies an elevated-risk segment. First establish data freshness, intervention capacity, effectiveness and economics. Consider ML only if it improves decisions over simple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44768"/>
            <a:ext cx="1069848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3666F"/>
                </a:solidFill>
              </a:defRPr>
            </a:pPr>
            <a:r>
              <a:t>Clinical review and safety checks are required; prior utilization alone should not determine care eligibility.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21207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B3342"/>
                </a:solidFill>
              </a:defRPr>
            </a:pPr>
            <a:r>
              <a:t>5 | Unknowns &amp; validation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69A6E"/>
                </a:solidFill>
              </a:defRPr>
            </a:pPr>
            <a:r>
              <a:t>CLAIM LEDGER + PILOT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66F"/>
                </a:solidFill>
              </a:defRPr>
            </a:pPr>
            <a:r>
              <a:t>No implementation claim until clinical, operational and financial assumptions are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3666F"/>
                </a:solidFill>
              </a:defRPr>
            </a:pPr>
            <a:r>
              <a:t>Testleaf FDE  |  Diabetes 130 US hospitals (1999–2008)  |  Discussion draft • 08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94960" cy="356616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01368"/>
            <a:ext cx="73152" cy="3163824"/>
          </a:xfrm>
          <a:prstGeom prst="roundRect">
            <a:avLst/>
          </a:prstGeom>
          <a:solidFill>
            <a:srgbClr val="369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46504"/>
            <a:ext cx="487375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Claim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76272"/>
            <a:ext cx="4873752" cy="2926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FACT: 21.40% readmission rate in 2+ group.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ASSUMPTION: $3,000 net value/event; $60k annual cost.</a:t>
            </a:r>
          </a:p>
          <a:p>
            <a:pPr>
              <a:spcAft>
                <a:spcPts val="600"/>
              </a:spcAft>
              <a:defRPr sz="1700" b="0">
                <a:solidFill>
                  <a:srgbClr val="1B3342"/>
                </a:solidFill>
              </a:defRPr>
            </a:pPr>
            <a:r>
              <a:t>HYPOTHESIS: follow-up prevents 10% of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03520" cy="3566160"/>
          </a:xfrm>
          <a:prstGeom prst="roundRect">
            <a:avLst/>
          </a:prstGeom>
          <a:solidFill>
            <a:srgbClr val="E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73368" y="1801368"/>
            <a:ext cx="73152" cy="3163824"/>
          </a:xfrm>
          <a:prstGeom prst="roundRect">
            <a:avLst/>
          </a:prstGeom>
          <a:solidFill>
            <a:srgbClr val="B7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46504"/>
            <a:ext cx="4782312" cy="34747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342"/>
                </a:solidFill>
              </a:defRPr>
            </a:pPr>
            <a:r>
              <a:t>Validation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76272"/>
            <a:ext cx="4782312" cy="29260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B3342"/>
                </a:solidFill>
              </a:defRPr>
            </a:pPr>
            <a:r>
              <a:t>Confirm code definitions and follow-up capture</a:t>
            </a:r>
          </a:p>
          <a:p>
            <a:pPr>
              <a:spcAft>
                <a:spcPts val="600"/>
              </a:spcAft>
              <a:defRPr sz="1600" b="0">
                <a:solidFill>
                  <a:srgbClr val="1B3342"/>
                </a:solidFill>
              </a:defRPr>
            </a:pPr>
            <a:r>
              <a:t>Verify actual cost/reimbursement and preventability</a:t>
            </a:r>
          </a:p>
          <a:p>
            <a:pPr>
              <a:spcAft>
                <a:spcPts val="600"/>
              </a:spcAft>
              <a:defRPr sz="1600" b="0">
                <a:solidFill>
                  <a:srgbClr val="1B3342"/>
                </a:solidFill>
              </a:defRPr>
            </a:pPr>
            <a:r>
              <a:t>Check available care-management capacity</a:t>
            </a:r>
          </a:p>
          <a:p>
            <a:pPr>
              <a:spcAft>
                <a:spcPts val="600"/>
              </a:spcAft>
              <a:defRPr sz="1600" b="0">
                <a:solidFill>
                  <a:srgbClr val="1B3342"/>
                </a:solidFill>
              </a:defRPr>
            </a:pPr>
            <a:r>
              <a:t>Run a controlled pilot and measure outcomes</a:t>
            </a:r>
          </a:p>
          <a:p>
            <a:pPr>
              <a:spcAft>
                <a:spcPts val="600"/>
              </a:spcAft>
              <a:defRPr sz="1600" b="0">
                <a:solidFill>
                  <a:srgbClr val="1B3342"/>
                </a:solidFill>
              </a:defRPr>
            </a:pPr>
            <a:r>
              <a:t>Scale only if net benefit and safety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44768"/>
            <a:ext cx="1069848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3666F"/>
                </a:solidFill>
              </a:defRPr>
            </a:pPr>
            <a:r>
              <a:t>Data caveats: 1999–2008, 130 hospitals; no hospital IDs or claim-level costs; recorded readmissions may miss outside-system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